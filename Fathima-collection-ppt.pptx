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wor\Downloads\FATHIMA-COLLECTION-DASHBOARD-SALES-2022-202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wor\Downloads\FATHIMA-COLLECTION-DASHBOARD-SALES-2022-202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wor\Downloads\FATHIMA-COLLECTION-DASHBOARD-SALES-2022-202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wor\Downloads\FATHIMA-COLLECTION-DASHBOARD-SALES-2022-202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wor\Downloads\FATHIMA-COLLECTION-DASHBOARD-SALES-2022-202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wor\Downloads\FATHIMA-COLLECTION-DASHBOARD-SALES-2022-202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[FATHIMA-COLLECTION-DASHBOARD-SALES-2022-2023.xlsx]Order vs Sales!PivotTable1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</a:t>
            </a:r>
            <a:r>
              <a:rPr lang="en-IN" baseline="0"/>
              <a:t> vs Sales</a:t>
            </a:r>
            <a:endParaRPr lang="en-IN"/>
          </a:p>
        </c:rich>
      </c:tx>
      <c:layout>
        <c:manualLayout>
          <c:xMode val="edge"/>
          <c:yMode val="edge"/>
          <c:x val="4.5472222222222233E-2"/>
          <c:y val="9.25925925925925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1914260717410323E-2"/>
          <c:y val="0.17171296296296296"/>
          <c:w val="0.715406605424322"/>
          <c:h val="0.710920822397200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'Order vs Sales'!$B$3</c:f>
              <c:strCache>
                <c:ptCount val="1"/>
                <c:pt idx="0">
                  <c:v>Count of Order 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'Order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 vs Sales'!$B$4:$B$15</c:f>
              <c:numCache>
                <c:formatCode>General</c:formatCode>
                <c:ptCount val="12"/>
                <c:pt idx="0">
                  <c:v>5</c:v>
                </c:pt>
                <c:pt idx="1">
                  <c:v>9</c:v>
                </c:pt>
                <c:pt idx="2">
                  <c:v>5</c:v>
                </c:pt>
                <c:pt idx="3">
                  <c:v>5</c:v>
                </c:pt>
                <c:pt idx="4">
                  <c:v>7</c:v>
                </c:pt>
                <c:pt idx="5">
                  <c:v>5</c:v>
                </c:pt>
                <c:pt idx="6">
                  <c:v>4</c:v>
                </c:pt>
                <c:pt idx="7">
                  <c:v>8</c:v>
                </c:pt>
                <c:pt idx="8">
                  <c:v>6</c:v>
                </c:pt>
                <c:pt idx="9">
                  <c:v>7</c:v>
                </c:pt>
                <c:pt idx="10">
                  <c:v>12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DB-40D9-B677-1DB72CAAE5FA}"/>
            </c:ext>
          </c:extLst>
        </c:ser>
        <c:ser>
          <c:idx val="1"/>
          <c:order val="1"/>
          <c:tx>
            <c:strRef>
              <c:f>'Order vs Sales'!$C$3</c:f>
              <c:strCache>
                <c:ptCount val="1"/>
                <c:pt idx="0">
                  <c:v>Sum of Amount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'Order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 vs Sales'!$C$4:$C$15</c:f>
              <c:numCache>
                <c:formatCode>General</c:formatCode>
                <c:ptCount val="12"/>
                <c:pt idx="0">
                  <c:v>1596</c:v>
                </c:pt>
                <c:pt idx="1">
                  <c:v>3338</c:v>
                </c:pt>
                <c:pt idx="2">
                  <c:v>1623</c:v>
                </c:pt>
                <c:pt idx="3">
                  <c:v>1882</c:v>
                </c:pt>
                <c:pt idx="4">
                  <c:v>2668</c:v>
                </c:pt>
                <c:pt idx="5">
                  <c:v>1407</c:v>
                </c:pt>
                <c:pt idx="6">
                  <c:v>1136</c:v>
                </c:pt>
                <c:pt idx="7">
                  <c:v>2762</c:v>
                </c:pt>
                <c:pt idx="8">
                  <c:v>2114</c:v>
                </c:pt>
                <c:pt idx="9">
                  <c:v>2710</c:v>
                </c:pt>
                <c:pt idx="10">
                  <c:v>4437</c:v>
                </c:pt>
                <c:pt idx="11">
                  <c:v>2131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DB-40D9-B677-1DB72CAAE5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1136351"/>
        <c:axId val="1441137791"/>
      </c:barChart>
      <c:catAx>
        <c:axId val="1441136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1137791"/>
        <c:crosses val="autoZero"/>
        <c:auto val="1"/>
        <c:lblAlgn val="ctr"/>
        <c:lblOffset val="100"/>
        <c:noMultiLvlLbl val="0"/>
      </c:catAx>
      <c:valAx>
        <c:axId val="1441137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11363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36147134733158359"/>
          <c:y val="1.9304826480023306E-2"/>
          <c:w val="0.57463976377952752"/>
          <c:h val="0.105325167687372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[FATHIMA-COLLECTION-DASHBOARD-SALES-2022-2023.xlsx]Mens vs Women!PivotTable2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Sales </a:t>
            </a:r>
            <a:r>
              <a:rPr lang="en-US" dirty="0" err="1"/>
              <a:t>Mens</a:t>
            </a:r>
            <a:r>
              <a:rPr lang="en-US" dirty="0"/>
              <a:t> vs </a:t>
            </a:r>
            <a:r>
              <a:rPr lang="en-US" dirty="0" err="1"/>
              <a:t>Womens</a:t>
            </a:r>
            <a:endParaRPr lang="en-US" dirty="0"/>
          </a:p>
        </c:rich>
      </c:tx>
      <c:layout>
        <c:manualLayout>
          <c:xMode val="edge"/>
          <c:yMode val="edge"/>
          <c:x val="2.2187445319335097E-2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layout>
            <c:manualLayout>
              <c:x val="0.21111111111111111"/>
              <c:y val="-0.13425925925925936"/>
            </c:manualLayout>
          </c:layout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</c:pivotFmt>
      <c:pivotFmt>
        <c:idx val="5"/>
        <c:dLbl>
          <c:idx val="0"/>
          <c:layout>
            <c:manualLayout>
              <c:x val="0.21111111111111111"/>
              <c:y val="-0.13425925925925936"/>
            </c:manualLayout>
          </c:layout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0.21111111111111111"/>
              <c:y val="-0.13425925925925936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0.21111111111111111"/>
              <c:y val="-0.13425925925925936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0.21111111111111111"/>
              <c:y val="-0.13425925925925936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'Mens vs Women'!$B$3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BE2D-4783-8AC2-30B76FD24B6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BE2D-4783-8AC2-30B76FD24B6F}"/>
              </c:ext>
            </c:extLst>
          </c:dPt>
          <c:dLbls>
            <c:dLbl>
              <c:idx val="1"/>
              <c:layout>
                <c:manualLayout>
                  <c:x val="0.21111111111111111"/>
                  <c:y val="-0.13425925925925936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2D-4783-8AC2-30B76FD24B6F}"/>
                </c:ext>
              </c:extLst>
            </c:dLbl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'Mens vs Women'!$A$4:$A$5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'Mens vs Women'!$B$4:$B$5</c:f>
              <c:numCache>
                <c:formatCode>General</c:formatCode>
                <c:ptCount val="2"/>
                <c:pt idx="0">
                  <c:v>16312</c:v>
                </c:pt>
                <c:pt idx="1">
                  <c:v>11492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2D-4783-8AC2-30B76FD24B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4434273840769898"/>
          <c:y val="1.0045567220764046E-2"/>
          <c:w val="0.12510170603674542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[FATHIMA-COLLECTION-DASHBOARD-SALES-2022-2023.xlsx]Order -Status!PivotTable3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Orde-Status</a:t>
            </a:r>
          </a:p>
        </c:rich>
      </c:tx>
      <c:layout>
        <c:manualLayout>
          <c:xMode val="edge"/>
          <c:yMode val="edge"/>
          <c:x val="2.8312335958005263E-2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5.2970909886264218E-2"/>
              <c:y val="3.59835228929717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83333333333334E-2"/>
              <c:y val="-6.76997666958296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0799628171478565"/>
              <c:y val="3.102872557596965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5.2970909886264218E-2"/>
              <c:y val="3.59835228929717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0799628171478565"/>
              <c:y val="3.102872557596965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83333333333334E-2"/>
              <c:y val="-6.76997666958296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5.2970909886264218E-2"/>
              <c:y val="3.59835228929717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0799628171478565"/>
              <c:y val="3.102872557596965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83333333333334E-2"/>
              <c:y val="-6.76997666958296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5.2970909886264218E-2"/>
              <c:y val="3.59835228929717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0799628171478565"/>
              <c:y val="3.102872557596965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83333333333334E-2"/>
              <c:y val="-6.76997666958296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5.2970909886264218E-2"/>
              <c:y val="3.59835228929717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0799628171478565"/>
              <c:y val="3.102872557596965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83333333333334E-2"/>
              <c:y val="-6.76997666958296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5.2970909886264218E-2"/>
              <c:y val="3.59835228929717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0799628171478565"/>
              <c:y val="3.102872557596965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83333333333334E-2"/>
              <c:y val="-6.76997666958296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'Order -Status'!$B$3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AB8-451B-89AC-D14370506B0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AB8-451B-89AC-D14370506B0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AB8-451B-89AC-D14370506B0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AB8-451B-89AC-D14370506B0E}"/>
              </c:ext>
            </c:extLst>
          </c:dPt>
          <c:dLbls>
            <c:dLbl>
              <c:idx val="0"/>
              <c:layout>
                <c:manualLayout>
                  <c:x val="5.2970909886264218E-2"/>
                  <c:y val="3.5983522892971714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AB8-451B-89AC-D14370506B0E}"/>
                </c:ext>
              </c:extLst>
            </c:dLbl>
            <c:dLbl>
              <c:idx val="2"/>
              <c:layout>
                <c:manualLayout>
                  <c:x val="-0.10799628171478565"/>
                  <c:y val="3.1028725575969651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AB8-451B-89AC-D14370506B0E}"/>
                </c:ext>
              </c:extLst>
            </c:dLbl>
            <c:dLbl>
              <c:idx val="3"/>
              <c:layout>
                <c:manualLayout>
                  <c:x val="2.3083333333333334E-2"/>
                  <c:y val="-6.7699766695829694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AB8-451B-89AC-D14370506B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'Order -Status'!$A$4:$A$7</c:f>
              <c:strCache>
                <c:ptCount val="4"/>
                <c:pt idx="0">
                  <c:v>Cancelled</c:v>
                </c:pt>
                <c:pt idx="1">
                  <c:v>Delivered</c:v>
                </c:pt>
                <c:pt idx="2">
                  <c:v>Refunded</c:v>
                </c:pt>
                <c:pt idx="3">
                  <c:v>Returned</c:v>
                </c:pt>
              </c:strCache>
            </c:strRef>
          </c:cat>
          <c:val>
            <c:numRef>
              <c:f>'Order -Status'!$B$4:$B$7</c:f>
              <c:numCache>
                <c:formatCode>General</c:formatCode>
                <c:ptCount val="4"/>
                <c:pt idx="0">
                  <c:v>5</c:v>
                </c:pt>
                <c:pt idx="1">
                  <c:v>65</c:v>
                </c:pt>
                <c:pt idx="2">
                  <c:v>2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B8-451B-89AC-D14370506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9889829396325457"/>
          <c:y val="1.9882983377077862E-2"/>
          <c:w val="0.14276837270341208"/>
          <c:h val="0.312502187226596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[FATHIMA-COLLECTION-DASHBOARD-SALES-2022-2023.xlsx]sales top7 states!PivotTable4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Sales-top 7 states</a:t>
            </a:r>
          </a:p>
          <a:p>
            <a:pPr>
              <a:defRPr/>
            </a:pPr>
            <a:endParaRPr lang="en-IN"/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'sales top7 states'!$B$3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'sales top7 states'!$A$4:$A$10</c:f>
              <c:strCache>
                <c:ptCount val="7"/>
                <c:pt idx="0">
                  <c:v>ANDHRA PRADESH</c:v>
                </c:pt>
                <c:pt idx="1">
                  <c:v>BIHAR</c:v>
                </c:pt>
                <c:pt idx="2">
                  <c:v>KARNATAKA</c:v>
                </c:pt>
                <c:pt idx="3">
                  <c:v>MAHARASHTRA</c:v>
                </c:pt>
                <c:pt idx="4">
                  <c:v>TAMIL NADU</c:v>
                </c:pt>
                <c:pt idx="5">
                  <c:v>TELANGANA</c:v>
                </c:pt>
                <c:pt idx="6">
                  <c:v>UTTAR PRADESH</c:v>
                </c:pt>
              </c:strCache>
            </c:strRef>
          </c:cat>
          <c:val>
            <c:numRef>
              <c:f>'sales top7 states'!$B$4:$B$10</c:f>
              <c:numCache>
                <c:formatCode>General</c:formatCode>
                <c:ptCount val="7"/>
                <c:pt idx="0">
                  <c:v>1709</c:v>
                </c:pt>
                <c:pt idx="1">
                  <c:v>1476</c:v>
                </c:pt>
                <c:pt idx="2">
                  <c:v>3305</c:v>
                </c:pt>
                <c:pt idx="3">
                  <c:v>3682</c:v>
                </c:pt>
                <c:pt idx="4">
                  <c:v>2658</c:v>
                </c:pt>
                <c:pt idx="5">
                  <c:v>3329</c:v>
                </c:pt>
                <c:pt idx="6">
                  <c:v>1624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70-468F-9378-F9769C6F11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16568975"/>
        <c:axId val="1116566575"/>
        <c:axId val="0"/>
      </c:bar3DChart>
      <c:catAx>
        <c:axId val="11165689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6566575"/>
        <c:crosses val="autoZero"/>
        <c:auto val="1"/>
        <c:lblAlgn val="ctr"/>
        <c:lblOffset val="100"/>
        <c:noMultiLvlLbl val="0"/>
      </c:catAx>
      <c:valAx>
        <c:axId val="11165665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656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[FATHIMA-COLLECTION-DASHBOARD-SALES-2022-2023.xlsx]Age &amp;Gender!PivotTable5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Orders Age vs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'Age &amp;Gender'!$B$3:$B$4</c:f>
              <c:strCache>
                <c:ptCount val="1"/>
                <c:pt idx="0">
                  <c:v>Men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'Age &amp;Gender'!$A$5:$A$7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'Age &amp;Gender'!$B$5:$B$7</c:f>
              <c:numCache>
                <c:formatCode>0.00%</c:formatCode>
                <c:ptCount val="3"/>
                <c:pt idx="0">
                  <c:v>0.24358974358974358</c:v>
                </c:pt>
                <c:pt idx="1">
                  <c:v>0.15384615384615385</c:v>
                </c:pt>
                <c:pt idx="2">
                  <c:v>0.19230769230769232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32-49D5-B465-90E3B328E22C}"/>
            </c:ext>
          </c:extLst>
        </c:ser>
        <c:ser>
          <c:idx val="1"/>
          <c:order val="1"/>
          <c:tx>
            <c:strRef>
              <c:f>'Age &amp;Gender'!$C$3:$C$4</c:f>
              <c:strCache>
                <c:ptCount val="1"/>
                <c:pt idx="0">
                  <c:v>Women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'Age &amp;Gender'!$A$5:$A$7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'Age &amp;Gender'!$C$5:$C$7</c:f>
              <c:numCache>
                <c:formatCode>0.00%</c:formatCode>
                <c:ptCount val="3"/>
                <c:pt idx="0">
                  <c:v>0.20512820512820512</c:v>
                </c:pt>
                <c:pt idx="1">
                  <c:v>3.8461538461538464E-2</c:v>
                </c:pt>
                <c:pt idx="2">
                  <c:v>0.16666666666666666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32-49D5-B465-90E3B328E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58865263"/>
        <c:axId val="1407100495"/>
      </c:barChart>
      <c:catAx>
        <c:axId val="1258865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100495"/>
        <c:crosses val="autoZero"/>
        <c:auto val="1"/>
        <c:lblAlgn val="ctr"/>
        <c:lblOffset val="100"/>
        <c:noMultiLvlLbl val="0"/>
      </c:catAx>
      <c:valAx>
        <c:axId val="140710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65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[FATHIMA-COLLECTION-DASHBOARD-SALES-2022-2023.xlsx]Orders-channels!PivotTable6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Orders channels</a:t>
            </a:r>
          </a:p>
          <a:p>
            <a:pPr>
              <a:defRPr/>
            </a:pPr>
            <a:endParaRPr lang="en-IN"/>
          </a:p>
        </c:rich>
      </c:tx>
      <c:layout>
        <c:manualLayout>
          <c:xMode val="edge"/>
          <c:yMode val="edge"/>
          <c:x val="0.18237489063867013"/>
          <c:y val="0.100831146106736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lumMod val="60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lumMod val="60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60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'Orders-channels'!$B$3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9A1-421A-ACDC-F4FF1F2FF97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9A1-421A-ACDC-F4FF1F2FF97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9A1-421A-ACDC-F4FF1F2FF97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9A1-421A-ACDC-F4FF1F2FF977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09A1-421A-ACDC-F4FF1F2FF977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09A1-421A-ACDC-F4FF1F2FF977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09A1-421A-ACDC-F4FF1F2FF977}"/>
              </c:ext>
            </c:extLst>
          </c:dPt>
          <c:cat>
            <c:strRef>
              <c:f>'Orders-channels'!$A$4:$A$10</c:f>
              <c:strCache>
                <c:ptCount val="7"/>
                <c:pt idx="0">
                  <c:v>Ajio</c:v>
                </c:pt>
                <c:pt idx="1">
                  <c:v>Amazon</c:v>
                </c:pt>
                <c:pt idx="2">
                  <c:v>Flipkart</c:v>
                </c:pt>
                <c:pt idx="3">
                  <c:v>Meesho</c:v>
                </c:pt>
                <c:pt idx="4">
                  <c:v>Myntra</c:v>
                </c:pt>
                <c:pt idx="5">
                  <c:v>Nalli</c:v>
                </c:pt>
                <c:pt idx="6">
                  <c:v>Others</c:v>
                </c:pt>
              </c:strCache>
            </c:strRef>
          </c:cat>
          <c:val>
            <c:numRef>
              <c:f>'Orders-channels'!$B$4:$B$10</c:f>
              <c:numCache>
                <c:formatCode>0.0%</c:formatCode>
                <c:ptCount val="7"/>
                <c:pt idx="0">
                  <c:v>0.10256410256410256</c:v>
                </c:pt>
                <c:pt idx="1">
                  <c:v>0.24358974358974358</c:v>
                </c:pt>
                <c:pt idx="2">
                  <c:v>0.19230769230769232</c:v>
                </c:pt>
                <c:pt idx="3">
                  <c:v>2.564102564102564E-2</c:v>
                </c:pt>
                <c:pt idx="4">
                  <c:v>0.34615384615384615</c:v>
                </c:pt>
                <c:pt idx="5">
                  <c:v>5.128205128205128E-2</c:v>
                </c:pt>
                <c:pt idx="6">
                  <c:v>3.8461538461538464E-2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9A1-421A-ACDC-F4FF1F2FF9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881496062992124"/>
          <c:y val="6.7255030621172357E-2"/>
          <c:w val="0.12572669656553559"/>
          <c:h val="0.544520469634105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4C6C-2DB4-6170-5CB8-302ABE324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A1E3D-2949-7C61-CB9B-7F7B8A828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0DE32-25F4-BD68-9F9E-1962B7033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199C0-2296-43E9-9190-AB660E32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04F4-658C-B1BF-9C3C-8EBB2CC0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86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DC5C-70AC-7F67-3F93-E2E41C31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4F84-8C5C-03FA-7F2D-9C89F4577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B3072-C00D-2436-599E-FACC31F6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7639A-F656-8378-0B90-6EF627A0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5EDD8-451F-4E80-75D0-0598D14F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53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D10C-64BC-869A-F166-03FADD57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8C5D9-76D6-F6C4-7215-AF534E0A3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29B3C-E659-2F40-9BEA-D1E0431B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1439-92D5-4416-8B8A-8771E123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3C94B-05B2-4EFE-F2D4-0B75B065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46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8DA8-FD9A-F2F3-961A-22705B39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1FB64-818C-EA57-E42E-3F25C0C42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AA442-70D1-EA63-3758-DD9DFCF11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7C351-91F6-A5BF-CA03-53687EEAE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20782-4997-3B79-6F97-256D8D41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153A5-3157-8953-607F-99821DBA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53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5226-C68B-7967-0E13-E5D35501F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0B1A9-DE77-D268-9D5F-0666AC2A1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DA377-D2BE-72F6-E0E5-FBA852532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61E20-2E43-DD1E-1F08-889C93AA7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61E17-6316-253A-A41D-C3AB53CA3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7EF123-A54D-0BF6-BF6A-7C657EB0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D43A76-01D9-641D-D6FD-CB037442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3DF68-743E-03FE-1A45-B8E2C58B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57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6F00-21B7-7E41-E89D-55D89201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5C4AD-F21A-5D06-E686-30A682DC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4D8E0-D3A2-3706-7CBC-8BD62996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4C12A-7C0C-4AA9-8D20-7AAECBCC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15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6C249-5009-7FA6-89B5-97D13DBE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9CBCC-8A15-CCC1-C11B-E95208AE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53713-3706-6401-F27D-90108704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1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4D16-0C82-B618-0222-CF327B18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3F87-E7A5-A2B4-D748-31C4FBF1F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90078-4C9D-1444-E877-581384495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26519-56B2-F5BA-1912-BFDA73378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206C6-0EEA-F1AC-7E39-3F763278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138FC-D4F5-CCFB-BC1D-91F214C7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30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6891-09E1-2C01-7891-09FCCE7E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CA986-34B4-3FF2-0CD9-80A3E12D1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01E88-7B94-0806-C7AB-A6C470464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93993-B9AB-A999-F28B-BD0D39B9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6255F-FA12-F61E-3CDA-3300EF10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AAE6B-57F7-D9C6-D365-5F59B56C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10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8FED-EACA-FD10-AF3A-67B07012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CC051-649F-2A80-DDEE-F5FA85AD7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1290-4F90-C748-2238-0AC7DAA3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3F1BC-06EE-8F91-8BC0-779DECB1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AC22-55BB-63C9-520B-2C0B6E3D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4F39-A34F-8CB8-2D6A-477E1EF986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55D85-3846-67B3-B9B3-26FCCF701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171F8-F4FD-BFE7-4D75-9D415220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D09D2-A1D0-48F1-F290-A97E1E87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8463F-5BA2-08A4-70A0-1E87F2B6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96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BCD2A-2F4D-2742-7260-9B53F88D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FC5D5-9E0F-20AB-35D7-26470BBC6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22C4-20EB-8D22-549E-FF0E9304C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3B0D6-C9D0-4E15-B7EC-EB098E1D732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6DF78-90A5-3A9C-3428-8C92299CA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59B5F-E9CA-8F27-D6E8-0E8AC4262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723D6-45B1-4C0F-95DA-899DF3D8C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04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0BB89-28D3-5FE0-7976-69704F2D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Objective</a:t>
            </a:r>
            <a:endParaRPr lang="en-I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CFAF34-EE95-C437-011C-EFA628CB7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1762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FATHIMA-COLLECTIONS- store wants to create an annual sales report for 2022. So that, FATHIMA can understand their customers and grow more sales in 2023.</a:t>
            </a:r>
          </a:p>
          <a:p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7807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0C62C-CA80-AB7B-7B69-DB08F971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F8E3-165E-720E-2B76-786331A53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Simple-Questions</a:t>
            </a:r>
            <a:endParaRPr lang="en-I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D95DB6-EE8E-0BF9-119A-E29CF49E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Which month got the highest sales and orders?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Who purchased more- men or women in 2022?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What are different order status in 2022?</a:t>
            </a:r>
          </a:p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Compare the sales and orders using single chart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List top 10 states contributing to the sales?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Relation between age and gender based on number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Which channel is contributing to maximum sales?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Highest selling category?, etc.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143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780C5-B760-AB46-4645-298C589E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3732-FC06-8FA6-79AB-12BD7A6A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Simple-insights</a:t>
            </a:r>
            <a:endParaRPr lang="en-I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2C21C0-C0B1-CB61-8BFE-D93D86F80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214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Sample Insights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Women are more likely to buy compared to men (~65%)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Maharashtra, Karnataka and Uttar Pradesh are the top 3 states (~35%)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Adult age group (30-49 yrs) is max contributing (~50%)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Amazon, Flipkart and Myntra channels are max contributing (~80%)</a:t>
            </a:r>
          </a:p>
          <a:p>
            <a:pPr>
              <a:lnSpc>
                <a:spcPct val="50000"/>
              </a:lnSpc>
            </a:pPr>
            <a:endParaRPr lang="en-US" sz="2000" dirty="0"/>
          </a:p>
          <a:p>
            <a:pPr>
              <a:lnSpc>
                <a:spcPct val="50000"/>
              </a:lnSpc>
            </a:pPr>
            <a:r>
              <a:rPr lang="en-US" sz="2000" dirty="0"/>
              <a:t>Final Conclusion to improve Vrinda store sales: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474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ABB7B-ECB7-C435-A3E3-B60D8F7E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74C9-CD57-EF30-75BD-AFBCDC85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4000" b="1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Orders vs Sales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C81555-13CA-1BAC-639A-F2597F450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214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4C0CACA-9C57-D946-A00E-EF7183F784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9015719"/>
              </p:ext>
            </p:extLst>
          </p:nvPr>
        </p:nvGraphicFramePr>
        <p:xfrm>
          <a:off x="1602769" y="1602769"/>
          <a:ext cx="7756988" cy="4541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040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FC2F9-24CD-74E7-55A7-1938848A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65-91CD-1FD3-16DD-CDA27EC6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1600" b="1" i="0" u="none" strike="noStrike" kern="1200" spc="100" baseline="0">
                <a:solidFill>
                  <a:prstClr val="white">
                    <a:lumMod val="95000"/>
                  </a:prst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4000" b="1" spc="1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Sales </a:t>
            </a:r>
            <a:r>
              <a:rPr lang="en-US" sz="4000" b="1" spc="100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Mens</a:t>
            </a:r>
            <a:r>
              <a:rPr lang="en-US" sz="4000" b="1" spc="1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vs </a:t>
            </a:r>
            <a:r>
              <a:rPr lang="en-US" sz="4000" b="1" spc="100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Womens</a:t>
            </a:r>
            <a:endParaRPr lang="en-US" sz="4000" b="1" spc="1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66023A-2D24-59BF-D1B2-E9DB979F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214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3DE841A-F836-4A7F-AA3D-8DCDD006C5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0031920"/>
              </p:ext>
            </p:extLst>
          </p:nvPr>
        </p:nvGraphicFramePr>
        <p:xfrm>
          <a:off x="2352782" y="2057400"/>
          <a:ext cx="6029218" cy="3922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126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83D2F-CC0C-4849-4622-CFC486ED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3B7D-149C-4775-FBF1-FF01FB83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1600" b="1" i="0" u="none" strike="noStrike" kern="1200" spc="100" baseline="0">
                <a:solidFill>
                  <a:prstClr val="white">
                    <a:lumMod val="95000"/>
                  </a:prst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600" b="1" spc="1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Orde-Status</a:t>
            </a:r>
            <a:endParaRPr lang="en-US" sz="4000" b="1" spc="100" dirty="0">
              <a:solidFill>
                <a:schemeClr val="accent6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01690C-0EF6-25DC-053A-FBB6DE214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214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5320F74-8974-4B2F-8B2C-EF02789D70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1843480"/>
              </p:ext>
            </p:extLst>
          </p:nvPr>
        </p:nvGraphicFramePr>
        <p:xfrm>
          <a:off x="2280863" y="2057399"/>
          <a:ext cx="6101137" cy="404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53955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A3E35-6B7E-09F4-872C-3C121688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6275-A72C-03D8-99F3-B2D9853E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1600" b="1" i="0" u="none" strike="noStrike" kern="1200" spc="100" baseline="0">
                <a:solidFill>
                  <a:prstClr val="white">
                    <a:lumMod val="95000"/>
                  </a:prst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600" b="1" spc="1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Sales top 7 states</a:t>
            </a:r>
            <a:br>
              <a:rPr lang="en-US" sz="3600" b="1" spc="1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n-US" sz="4000" b="1" spc="100" dirty="0">
              <a:solidFill>
                <a:schemeClr val="accent6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4AFCD4-AB92-5B69-7DB4-697C75322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214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017D936-6D7B-401B-97A3-F6EE5D0AD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0028380"/>
              </p:ext>
            </p:extLst>
          </p:nvPr>
        </p:nvGraphicFramePr>
        <p:xfrm>
          <a:off x="2239767" y="2057399"/>
          <a:ext cx="7130264" cy="4220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9847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2F938-10A9-29E4-F493-04CBA455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842F-6688-3345-672F-6D32296E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1600" b="1" i="0" u="none" strike="noStrike" kern="1200" spc="100" baseline="0">
                <a:solidFill>
                  <a:prstClr val="white">
                    <a:lumMod val="95000"/>
                  </a:prst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600" b="1" spc="1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Orders Age vs Gender</a:t>
            </a:r>
            <a:br>
              <a:rPr lang="en-US" sz="3600" b="1" spc="1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n-US" sz="4000" b="1" spc="100" dirty="0">
              <a:solidFill>
                <a:schemeClr val="accent6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C33858-7E8A-3E34-F879-FD754512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214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F15744B-2828-4B5A-A0A1-5EC96742A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2686358"/>
              </p:ext>
            </p:extLst>
          </p:nvPr>
        </p:nvGraphicFramePr>
        <p:xfrm>
          <a:off x="2013735" y="2057399"/>
          <a:ext cx="7315199" cy="4148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727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15D2C-289D-7CF9-281C-E086EC87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60DC8-AB76-6019-51CF-53BFE2F7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1600" b="1" i="0" u="none" strike="noStrike" kern="1200" spc="100" baseline="0">
                <a:solidFill>
                  <a:prstClr val="white">
                    <a:lumMod val="95000"/>
                  </a:prst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600" b="1" spc="1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Orders Channels</a:t>
            </a:r>
            <a:br>
              <a:rPr lang="en-US" sz="3600" b="1" spc="1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n-US" sz="4000" b="1" spc="100" dirty="0">
              <a:solidFill>
                <a:schemeClr val="accent6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D853E0-F544-FEA5-3775-E6356B496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214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156A63D-6775-452A-B3B3-640C433CCF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412691"/>
              </p:ext>
            </p:extLst>
          </p:nvPr>
        </p:nvGraphicFramePr>
        <p:xfrm>
          <a:off x="1551398" y="2051459"/>
          <a:ext cx="7828907" cy="4092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346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200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Cascadia Mono SemiBold</vt:lpstr>
      <vt:lpstr>Courier New</vt:lpstr>
      <vt:lpstr>Office Theme</vt:lpstr>
      <vt:lpstr>Objective</vt:lpstr>
      <vt:lpstr>Simple-Questions</vt:lpstr>
      <vt:lpstr>Simple-insights</vt:lpstr>
      <vt:lpstr>Orders vs Sales</vt:lpstr>
      <vt:lpstr>Sales Mens vs Womens</vt:lpstr>
      <vt:lpstr>Orde-Status</vt:lpstr>
      <vt:lpstr>Sales top 7 states </vt:lpstr>
      <vt:lpstr>Orders Age vs Gender </vt:lpstr>
      <vt:lpstr>Orders Channels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RAHMAN</dc:creator>
  <cp:lastModifiedBy>ABDUL RAHMAN</cp:lastModifiedBy>
  <cp:revision>1</cp:revision>
  <dcterms:created xsi:type="dcterms:W3CDTF">2026-02-10T17:17:58Z</dcterms:created>
  <dcterms:modified xsi:type="dcterms:W3CDTF">2026-02-10T17:45:23Z</dcterms:modified>
</cp:coreProperties>
</file>